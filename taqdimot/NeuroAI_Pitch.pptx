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991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Salom. Men Azizbek. NeuroAI — insultdan keyin nutqi va harakati buzilgan bemorning yonida 24/7 turadigan o'zbek tilidagi AI hamroh. U bemorni tushunadi, oilaga tarjima qiladi va logoped protokolini har kuni bajartiradi.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Biz — AI-dasturchilar va tibbiyot talabalari jamoasi. Mahsulot uchta narsani qiladi: suhbatlashadi, tarjima qiladi, mashq qildiradi — va hammasini vrach nazorati ostida.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Muammo uchta: intensivlik yetarli emas, oila tushunmaydi, vrach ko'rmaydi. Ilm aniq aytadi: natija terapiya soatiga bog'liq — 20–50 soat, haftada 5 kun. Hech bir logoped buni bera olmaydi. AI bera oladi.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Bemor gapiradi — kamera yuzni, mikrofon ovoz ohangini o'qiydi. Yadro holatni hisoblab, uch rejimdan birida ishlaydi. Natija oilaga Telegram orqali, vrachga panel orqali boradi. Demo: hozir jonli ko'rsataman.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 — dunyo bo'yicha 94 million omon qolganning uchdan biri afaziya bilan — 31 million odam; Constant Therapy narxida bu 11 milliard dollar. SAM — O'zbekiston va Markaziy Osiyo: yiliga 160–200 ming yangi insult, 1–3 yillik reabilitatsiya oynasida 180 ming maqsadli bemor. SOM — 3 yilda 5 ming faol bemor, 60 klinika orqali.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Raqobatchilar ingliz tilida va faqat mashq beradi. Eng katta tadqiqot — Big CACTUS — kompyuterli mashq so'z topishni 16 foizga yaxshilagan, lekin kundalik suhbatga ta'sir qilmagan. Biz aynan shu bo'shliqqa — muloqotga — ishlaymiz.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Hamma narsa ochiq modellarda ishlaydi va klinika serverida tura oladi. Xavfsizlik — mahsulotning bir qismi: tashxis yo'q, dori yo'q, har javobda xavf klassifikatori, odam har doim halqada.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Uch to'lovchi: klinika, oila, davlat. Narx — bitta logoped seansi narxi. Bir bemor uchun AI xarajati bir dollar atrofida, on-prem'da undan ham kam. 1 500 faol bemorda o'z-o'zini qoplaydi.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Hozir MVP ishlaydi. 6 oyda — klinik pilot va dataset, chunki o'zbek afaziya nutqi dataseti hech kimda yo'q. Bir yilda 20 klinika, uch yilda Markaziy Osiyo.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Jamoa: tibbiyot va AI bir joyda. Men — dasturchi va tibbiyot talabasi, ikkita medtech mahsulot asoschisi. Savollaringizga tayyormiz. Rahmat!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754880" cy="4754880"/>
          </a:xfrm>
          <a:prstGeom prst="ellipse">
            <a:avLst/>
          </a:prstGeom>
          <a:solidFill>
            <a:srgbClr val="0E7C86">
              <a:alpha val="18000"/>
            </a:srgbClr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F25C54">
              <a:alpha val="15000"/>
            </a:srgbClr>
          </a:solidFill>
          <a:ln w="12700">
            <a:solidFill>
              <a:srgbClr val="F25C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-1097280" y="3566160"/>
            <a:ext cx="2743200" cy="2743200"/>
          </a:xfrm>
          <a:prstGeom prst="ellipse">
            <a:avLst/>
          </a:prstGeom>
          <a:solidFill>
            <a:srgbClr val="0E7C86">
              <a:alpha val="12000"/>
            </a:srgbClr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DAY  ·  SOG'LIQNI SAQLASH YO'NALISHI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234440" cy="1234440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00200"/>
            <a:ext cx="685800" cy="685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11680" y="12344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NeuroAI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2057400" y="20574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Insultdan keyingi bemorlar uchun 24/7 o'zbek tilidagi AI reabilitatsiya hamrohi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630936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9FD3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777240" y="29900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Bemorning yonidagi logoped, tarjimon va suhbatdosh — bitta ilovada.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337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Bemorni nutqi, yuzi va ovozidan tushunadi · oila bilan bog'laydi · logoped protokolini har kuni bajartiradi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#MilliyAIXakaton   #XorazmAI   2026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120640" y="4343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Urganch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kimmiz?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Tibbiyot va AI muhandisligi kesishgan jamoa — Urganch, Xorazm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310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818888"/>
            <a:ext cx="146304" cy="146304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658368" y="47914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NeuroAI  ·  #MilliyAIXakaton   #XorazmAI 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777240" y="1554480"/>
            <a:ext cx="731520" cy="731520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373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NeuroAI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7889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Insultdan keyingi bemor uchun o'zbek tilida gapiradigan, uni nutqi, yuzi va ovozidan tushunadigan, oila va vrachni bitta tizimga bog'laydigan AI reabilitatsiya hamrohi.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9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Vrachning o'rnini bosmaydi — qo'lini uzaytiradi.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023360" y="1280160"/>
            <a:ext cx="46634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4206240" y="1481328"/>
            <a:ext cx="585216" cy="585216"/>
          </a:xfrm>
          <a:prstGeom prst="ellipse">
            <a:avLst/>
          </a:prstGeom>
          <a:solidFill>
            <a:srgbClr val="E6F4F5"/>
          </a:solidFill>
          <a:ln w="12700">
            <a:solidFill>
              <a:srgbClr val="E6F4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1627632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937760" y="1426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ovozli suhbatdosh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4937760" y="1737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Buzilgan nutqni tushunadi, sabr bilan gaplashadi, yolg'izlik va stressni kamaytiradi.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023360" y="2395728"/>
            <a:ext cx="46634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5"/>
          <p:cNvSpPr/>
          <p:nvPr/>
        </p:nvSpPr>
        <p:spPr>
          <a:xfrm>
            <a:off x="4206240" y="2596896"/>
            <a:ext cx="585216" cy="585216"/>
          </a:xfrm>
          <a:prstGeom prst="ellipse">
            <a:avLst/>
          </a:prstGeom>
          <a:solidFill>
            <a:srgbClr val="FDEAE8"/>
          </a:solidFill>
          <a:ln w="12700">
            <a:solidFill>
              <a:srgbClr val="FDEA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274320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937760" y="2542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Tarjimon: bemor ↔ oila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4937760" y="28529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Chala aytilgan so'zdan niyatni topadi, oilaga ovoz chiqarib aytadi va nima qilishni tushuntiradi.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023360" y="3511296"/>
            <a:ext cx="46634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Shape 19"/>
          <p:cNvSpPr/>
          <p:nvPr/>
        </p:nvSpPr>
        <p:spPr>
          <a:xfrm>
            <a:off x="4206240" y="3712464"/>
            <a:ext cx="585216" cy="585216"/>
          </a:xfrm>
          <a:prstGeom prst="ellipse">
            <a:avLst/>
          </a:prstGeom>
          <a:solidFill>
            <a:srgbClr val="E4F5EC"/>
          </a:solidFill>
          <a:ln w="12700">
            <a:solidFill>
              <a:srgbClr val="E4F5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2544" y="3858768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937760" y="3657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Kunlik mashq + vrach paneli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4937760" y="396849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Logoped protokoli bo'yicha nutq, yuz va kognitiv mashqlar; progress, xavf belgilari va hisobot — vrachga.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 hal qilayotgan muammo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Insultdan keyin tiklanish uyda, har kuni bo'lishi kerak — lekin uyda bemor yolg'iz qoladi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310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818888"/>
            <a:ext cx="146304" cy="146304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658368" y="47914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NeuroAI  ·  #MilliyAIXakaton   #XorazmAI 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017520" cy="3291840"/>
          </a:xfrm>
          <a:prstGeom prst="roundRect">
            <a:avLst>
              <a:gd name="adj" fmla="val 3636"/>
            </a:avLst>
          </a:prstGeom>
          <a:solidFill>
            <a:srgbClr val="FDEAE8"/>
          </a:solidFill>
          <a:ln w="9525">
            <a:solidFill>
              <a:srgbClr val="FDEA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685800" y="148132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609344"/>
            <a:ext cx="292608" cy="2926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1554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Bobur aka, 62, Urganch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1488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Insultdan keyin "suv" deb ayta olmaydi. Qizi 10 daqiqa taxmin qiladi. Logoped — haftada bir marta, 30 daqiqa. Qolgan 167 soat — oila yolg'iz, bemor jim.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31012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O'zbekistonda o'limning sababi — yurak-qon tomir (2024)</a:t>
            </a:r>
            <a:endParaRPr lang="en-US" sz="780" dirty="0"/>
          </a:p>
        </p:txBody>
      </p:sp>
      <p:sp>
        <p:nvSpPr>
          <p:cNvPr id="14" name="Text 11"/>
          <p:cNvSpPr txBox="1"/>
          <p:nvPr/>
        </p:nvSpPr>
        <p:spPr>
          <a:xfrm>
            <a:off x="1965960" y="33101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 ming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965960" y="3657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insult / yil O'zbekistonda (baholash, 39 mln aholi)</a:t>
            </a:r>
            <a:endParaRPr lang="en-US" sz="78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uchinchi bemor shu holatda.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749040" y="1280160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5"/>
          <p:cNvSpPr/>
          <p:nvPr/>
        </p:nvSpPr>
        <p:spPr>
          <a:xfrm>
            <a:off x="3931920" y="1481328"/>
            <a:ext cx="585216" cy="585216"/>
          </a:xfrm>
          <a:prstGeom prst="ellipse">
            <a:avLst/>
          </a:prstGeom>
          <a:solidFill>
            <a:srgbClr val="FEF3DF"/>
          </a:solidFill>
          <a:ln w="12700">
            <a:solidFill>
              <a:srgbClr val="FEF3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224" y="1627632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663440" y="1408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Reabilitatsiya intensivligi yetarli emas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4663440" y="170078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yaxshi natija: jami 20–50 soat terapiya, haftada 5 kun (RELEASE, 2022). Amalda: haftada 1–2 marta, 30–60 daqiqa.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749040" y="2395728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3" name="Shape 19"/>
          <p:cNvSpPr/>
          <p:nvPr/>
        </p:nvSpPr>
        <p:spPr>
          <a:xfrm>
            <a:off x="3931920" y="2596896"/>
            <a:ext cx="585216" cy="585216"/>
          </a:xfrm>
          <a:prstGeom prst="ellipse">
            <a:avLst/>
          </a:prstGeom>
          <a:solidFill>
            <a:srgbClr val="FDEAE8"/>
          </a:solidFill>
          <a:ln w="12700">
            <a:solidFill>
              <a:srgbClr val="FDEA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8224" y="2743200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663440" y="25237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Oila bemorni tushunmaydi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4663440" y="281635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Insultdan keyin ~1/3 bemorda afaziya; ularning 32% ida depressiya. Nutqsiz bemor izolyatsiyaga tushadi, tiklanish sekinlashadi.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3749040" y="3511296"/>
            <a:ext cx="49377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8" name="Shape 23"/>
          <p:cNvSpPr/>
          <p:nvPr/>
        </p:nvSpPr>
        <p:spPr>
          <a:xfrm>
            <a:off x="3931920" y="3712464"/>
            <a:ext cx="585216" cy="585216"/>
          </a:xfrm>
          <a:prstGeom prst="ellipse">
            <a:avLst/>
          </a:prstGeom>
          <a:solidFill>
            <a:srgbClr val="E6F4F5"/>
          </a:solidFill>
          <a:ln w="12700">
            <a:solidFill>
              <a:srgbClr val="E6F4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8224" y="3858768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663440" y="3639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Vrach uyda nima bo'layotganini ko'rmaydi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4663440" y="39319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Mashq bajarildimi, dori ichildimi, kayfiyat qanday — ma'lumot yo'q. O'zbek tilida raqamli reabilitatsiya vositasi mavjud emas.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3840480" y="47914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Manbalar: RELEASE — Stroke 2022; BMC Neurology 2025; PLOS Medicine 2023; Upl.uz/SSV 2025; Kazpravda 2024 (mintaqaviy ko'rsatkich)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Yechim: NeuroAI qanday ishlaydi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 kanal → bitta tushunish → uch rejim → oila va vrach bitta tizimda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310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818888"/>
            <a:ext cx="146304" cy="146304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658368" y="47914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NeuroAI  ·  #MilliyAIXakaton   #XorazmAI   2026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20116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594360" y="1691640"/>
            <a:ext cx="512064" cy="512064"/>
          </a:xfrm>
          <a:prstGeom prst="ellipse">
            <a:avLst/>
          </a:prstGeom>
          <a:solidFill>
            <a:srgbClr val="FDEAE8"/>
          </a:solidFill>
          <a:ln w="12700">
            <a:solidFill>
              <a:srgbClr val="FDEA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81965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17007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Nutq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19568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buzilgan / chala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487168"/>
            <a:ext cx="20116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594360" y="2624328"/>
            <a:ext cx="512064" cy="512064"/>
          </a:xfrm>
          <a:prstGeom prst="ellipse">
            <a:avLst/>
          </a:prstGeom>
          <a:solidFill>
            <a:srgbClr val="FEF3DF"/>
          </a:solidFill>
          <a:ln w="12700">
            <a:solidFill>
              <a:srgbClr val="FEF3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275234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88720" y="26334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Yuz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188720" y="28895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asimmetriya, mimika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57200" y="3419856"/>
            <a:ext cx="20116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5"/>
          <p:cNvSpPr/>
          <p:nvPr/>
        </p:nvSpPr>
        <p:spPr>
          <a:xfrm>
            <a:off x="594360" y="3557016"/>
            <a:ext cx="512064" cy="512064"/>
          </a:xfrm>
          <a:prstGeom prst="ellipse">
            <a:avLst/>
          </a:prstGeom>
          <a:solidFill>
            <a:srgbClr val="E6F4F5"/>
          </a:solidFill>
          <a:ln w="12700">
            <a:solidFill>
              <a:srgbClr val="E6F4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685032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88720" y="35661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Ovoz ohangi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188720" y="38221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kayfiyat, charchoq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2560320" y="2743200"/>
            <a:ext cx="411480" cy="292608"/>
          </a:xfrm>
          <a:prstGeom prst="rightArrow">
            <a:avLst/>
          </a:prstGeom>
          <a:solidFill>
            <a:srgbClr val="BFE3E6"/>
          </a:solidFill>
          <a:ln w="12700">
            <a:solidFill>
              <a:srgbClr val="BFE3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19"/>
          <p:cNvSpPr/>
          <p:nvPr/>
        </p:nvSpPr>
        <p:spPr>
          <a:xfrm>
            <a:off x="3063240" y="1554480"/>
            <a:ext cx="2286000" cy="2651760"/>
          </a:xfrm>
          <a:prstGeom prst="roundRect">
            <a:avLst>
              <a:gd name="adj" fmla="val 5600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0"/>
          <p:cNvSpPr/>
          <p:nvPr/>
        </p:nvSpPr>
        <p:spPr>
          <a:xfrm>
            <a:off x="3840480" y="1737360"/>
            <a:ext cx="731520" cy="731520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0" y="192024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320040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NeuroAI yadrosi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3200400" y="28803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 STT + LLM + TTS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holat: charchoq, kayfiyat, e'tibor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 klassifikatori — har javobda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DC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Logoped protokoli + adaptiv qiyinlik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5440680" y="2743200"/>
            <a:ext cx="411480" cy="292608"/>
          </a:xfrm>
          <a:prstGeom prst="rightArrow">
            <a:avLst/>
          </a:prstGeom>
          <a:solidFill>
            <a:srgbClr val="BFE3E6"/>
          </a:solidFill>
          <a:ln w="12700">
            <a:solidFill>
              <a:srgbClr val="BFE3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4"/>
          <p:cNvSpPr txBox="1"/>
          <p:nvPr/>
        </p:nvSpPr>
        <p:spPr>
          <a:xfrm>
            <a:off x="59436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 REJIM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5943600" y="1554480"/>
            <a:ext cx="27432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2" name="Shape 26"/>
          <p:cNvSpPr/>
          <p:nvPr/>
        </p:nvSpPr>
        <p:spPr>
          <a:xfrm>
            <a:off x="6080760" y="1691640"/>
            <a:ext cx="512064" cy="512064"/>
          </a:xfrm>
          <a:prstGeom prst="ellipse">
            <a:avLst/>
          </a:prstGeom>
          <a:solidFill>
            <a:srgbClr val="E6F4F5"/>
          </a:solidFill>
          <a:ln w="12700">
            <a:solidFill>
              <a:srgbClr val="E6F4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8776" y="1819656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675120" y="17007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Suhbatdosh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6675120" y="19568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24/7, qisqa jumlalar, sekin va aniq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5943600" y="2487168"/>
            <a:ext cx="27432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7" name="Shape 30"/>
          <p:cNvSpPr/>
          <p:nvPr/>
        </p:nvSpPr>
        <p:spPr>
          <a:xfrm>
            <a:off x="6080760" y="2624328"/>
            <a:ext cx="512064" cy="512064"/>
          </a:xfrm>
          <a:prstGeom prst="ellipse">
            <a:avLst/>
          </a:prstGeom>
          <a:solidFill>
            <a:srgbClr val="FDEAE8"/>
          </a:solidFill>
          <a:ln w="12700">
            <a:solidFill>
              <a:srgbClr val="FDEA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76" y="2752344"/>
            <a:ext cx="256032" cy="25603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675120" y="26334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Tarjimon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6675120" y="28895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 taxmin → tasdiq → oilaga ovoz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5943600" y="3419856"/>
            <a:ext cx="27432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2" name="Shape 34"/>
          <p:cNvSpPr/>
          <p:nvPr/>
        </p:nvSpPr>
        <p:spPr>
          <a:xfrm>
            <a:off x="6080760" y="3557016"/>
            <a:ext cx="512064" cy="512064"/>
          </a:xfrm>
          <a:prstGeom prst="ellipse">
            <a:avLst/>
          </a:prstGeom>
          <a:solidFill>
            <a:srgbClr val="E4F5EC"/>
          </a:solidFill>
          <a:ln w="12700">
            <a:solidFill>
              <a:srgbClr val="E4F5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8776" y="3685032"/>
            <a:ext cx="256032" cy="256032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6675120" y="35661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Mashq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6675120" y="38221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nutq · yuz · kognitiv, ballash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457200" y="4315968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5F8FB"/>
          </a:solidFill>
          <a:ln w="9525">
            <a:solidFill>
              <a:srgbClr val="F5F8F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4398264"/>
            <a:ext cx="219456" cy="219456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932688" y="4389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Oila: Telegram xabarnoma, kunlik xulosa, muloqot maslahatlari</a:t>
            </a:r>
            <a:endParaRPr lang="en-US" sz="950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6280" y="4398264"/>
            <a:ext cx="219456" cy="219456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4818888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Vrach paneli: progress grafiklari, qizil bayroqlar, haftalik AI hisobot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hajmi va maqsadli auditoriya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Pastdan yuqoriga hisob: bemorlar soni × real narx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310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818888"/>
            <a:ext cx="146304" cy="146304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658368" y="47914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NeuroAI  ·  #MilliyAIXakaton   #XorazmAI 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0392" y="1380744"/>
            <a:ext cx="2596896" cy="2596896"/>
          </a:xfrm>
          <a:prstGeom prst="ellipse">
            <a:avLst/>
          </a:prstGeom>
          <a:solidFill>
            <a:srgbClr val="0E7C86">
              <a:alpha val="15000"/>
            </a:srgbClr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1280160" y="1810512"/>
            <a:ext cx="1737360" cy="1737360"/>
          </a:xfrm>
          <a:prstGeom prst="ellipse">
            <a:avLst/>
          </a:prstGeom>
          <a:solidFill>
            <a:srgbClr val="0E7C86">
              <a:alpha val="35000"/>
            </a:srgbClr>
          </a:solidFill>
          <a:ln w="12700">
            <a:solidFill>
              <a:srgbClr val="0E7C8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1673352" y="2203704"/>
            <a:ext cx="950976" cy="950976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 txBox="1"/>
          <p:nvPr/>
        </p:nvSpPr>
        <p:spPr>
          <a:xfrm>
            <a:off x="1600200" y="24780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679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 mln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18928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·  $17 mln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14538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·  $11 mlrd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23360" y="1280160"/>
            <a:ext cx="4663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 txBox="1"/>
          <p:nvPr/>
        </p:nvSpPr>
        <p:spPr>
          <a:xfrm>
            <a:off x="4206240" y="13898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371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 mlrd / yil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169164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Dunyo: 94 mln insultdan omon qolgan × ~1/3 afaziya ≈ 31 mln kishi × $30/oy (Constant Therapy narxi)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023360" y="2212848"/>
            <a:ext cx="4663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 txBox="1"/>
          <p:nvPr/>
        </p:nvSpPr>
        <p:spPr>
          <a:xfrm>
            <a:off x="4206240" y="23225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304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 mln / yil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262432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 + Markaziy Osiyo (82 mln aholi): ≈180 ming nutq/kognitiv buzilishli bemor (1–3 yil) × ~$8/oy mahalliy narx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023360" y="3145536"/>
            <a:ext cx="4663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 txBox="1"/>
          <p:nvPr/>
        </p:nvSpPr>
        <p:spPr>
          <a:xfrm>
            <a:off x="4206240" y="32552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2369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 mln / yil (3 yil)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206240" y="355701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O'zbekiston: 60 klinika/reabilitatsiya markazi orqali 5 000 faol bemor × $100/yil — maqsadli guruhning ~3%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6F4F5"/>
          </a:solidFill>
          <a:ln w="9525">
            <a:solidFill>
              <a:srgbClr val="E6F4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 txBox="1"/>
          <p:nvPr/>
        </p:nvSpPr>
        <p:spPr>
          <a:xfrm>
            <a:off x="640080" y="416966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Maqsadli auditoriya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38912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Bemor: 50+ yosh, insultdan keyingi 1–3 yil · Qaror qiluvchi: farzand (30–50 yosh, smartfon) · To'lovchi: klinika (B2B) yoki oila · Kanal: 2025-yilda 1 329 ta yangi xususiy klinika, milliy insult dasturi (239 mlrd so'm)</a:t>
            </a:r>
            <a:endParaRPr lang="en-US" sz="880" dirty="0"/>
          </a:p>
        </p:txBody>
      </p:sp>
      <p:sp>
        <p:nvSpPr>
          <p:cNvPr id="29" name="Text 27"/>
          <p:cNvSpPr txBox="1"/>
          <p:nvPr/>
        </p:nvSpPr>
        <p:spPr>
          <a:xfrm>
            <a:off x="3840480" y="47914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Manbalar: WSO Global Stroke Fact Sheet 2025; BMC Neurology 2025; Kazpravda 2024; Daryo.uz, Gazeta.uz 2026; NeuroAI hisobi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 + raqobatchilar tahlili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ilovalar mashq beradi — hech biri o'zbek tilida, oila bilan va vrach nazorati ostida ishlamaydi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310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818888"/>
            <a:ext cx="146304" cy="146304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658368" y="47914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NeuroAI  ·  #MilliyAIXakaton   #XorazmAI   2026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231136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Xususiyat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5C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Therapy (AQSh)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Tactus Therapy (AQSh)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An'anaviy logoped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O'zbek tili va shevalar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tushunish (nutq + yuz + ovoz)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faqat qabulda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Oila bilan "tarjimon" rejimi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24/7 suhbatdosh, hissiy qo'llab-quvvatlash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Vrach paneli, protokol, xavf signali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klinisist versiyasi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qabuldan qabulga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Narx / 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$8–10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$10–30 bir martalik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 ming so'm × 4–8 seans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611880"/>
            <a:ext cx="8229600" cy="1078992"/>
          </a:xfrm>
          <a:prstGeom prst="roundRect">
            <a:avLst>
              <a:gd name="adj" fmla="val 10169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640080" y="3813048"/>
            <a:ext cx="640080" cy="640080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96849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37033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9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 biz?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463040" y="3977640"/>
            <a:ext cx="708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ilovalar so'z topishni +16% yaxshilaydi, lekin bu kundalik suhbatga o'tmaydi (Big CACTUS, n=278). NeuroAI aynan muloqotga ishlaydi: bemorni tushunadi, oilaga tarjima qiladi va har kuni mashq qildiradi — o'zbek tilida, vrach nazorati ostida, ma'lumot O'zbekistonda qoladi.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3840480" y="47914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Manbalar: constanttherapyhealth.com; tactustherapy.com; med24.uz; Palmer et al., Lancet Neurology 2019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Texnologiya va xavfsizlik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Ochiq modellar klinika serverida + bulut zaxira; tibbiy chegaralar kodda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310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818888"/>
            <a:ext cx="146304" cy="146304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658368" y="47914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NeuroAI  ·  #MilliyAIXakaton   #XorazmAI 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 txBox="1"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Texnologik stek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420624" cy="420624"/>
          </a:xfrm>
          <a:prstGeom prst="ellipse">
            <a:avLst/>
          </a:prstGeom>
          <a:solidFill>
            <a:srgbClr val="FDEAE8"/>
          </a:solidFill>
          <a:ln w="12700">
            <a:solidFill>
              <a:srgbClr val="FDEA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837944"/>
            <a:ext cx="219456" cy="2194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70432" y="17190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Nutq → matn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170432" y="1938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Kotib/uzbek_stt_v1 (Whisper, WER 16.7%), zaxira: Gemini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640080" y="2313432"/>
            <a:ext cx="420624" cy="420624"/>
          </a:xfrm>
          <a:prstGeom prst="ellipse">
            <a:avLst/>
          </a:prstGeom>
          <a:solidFill>
            <a:srgbClr val="E6F4F5"/>
          </a:solidFill>
          <a:ln w="12700">
            <a:solidFill>
              <a:srgbClr val="E6F4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414016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70432" y="22951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 → ovoz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170432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Navoiy TTS (Apache-2.0), sekin va aniq nutq</a:t>
            </a:r>
            <a:endParaRPr lang="en-US" sz="860" dirty="0"/>
          </a:p>
        </p:txBody>
      </p:sp>
      <p:sp>
        <p:nvSpPr>
          <p:cNvPr id="17" name="Shape 13"/>
          <p:cNvSpPr/>
          <p:nvPr/>
        </p:nvSpPr>
        <p:spPr>
          <a:xfrm>
            <a:off x="640080" y="2889504"/>
            <a:ext cx="420624" cy="420624"/>
          </a:xfrm>
          <a:prstGeom prst="ellipse">
            <a:avLst/>
          </a:prstGeom>
          <a:solidFill>
            <a:srgbClr val="FEF3DF"/>
          </a:solidFill>
          <a:ln w="12700">
            <a:solidFill>
              <a:srgbClr val="FEF3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2990088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70432" y="28712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Yuz va qo'l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1170432" y="3090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— brauzerda, video serverga bormaydi</a:t>
            </a:r>
            <a:endParaRPr lang="en-US" sz="860" dirty="0"/>
          </a:p>
        </p:txBody>
      </p:sp>
      <p:sp>
        <p:nvSpPr>
          <p:cNvPr id="21" name="Shape 16"/>
          <p:cNvSpPr/>
          <p:nvPr/>
        </p:nvSpPr>
        <p:spPr>
          <a:xfrm>
            <a:off x="640080" y="3465576"/>
            <a:ext cx="420624" cy="420624"/>
          </a:xfrm>
          <a:prstGeom prst="ellipse">
            <a:avLst/>
          </a:prstGeom>
          <a:solidFill>
            <a:srgbClr val="E6F4F5"/>
          </a:solidFill>
          <a:ln w="12700">
            <a:solidFill>
              <a:srgbClr val="E6F4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356616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70432" y="34472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Ovoz ohangi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1170432" y="3666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emotion2vec+ — kayfiyat trendi (tashxis emas)</a:t>
            </a:r>
            <a:endParaRPr lang="en-US" sz="860" dirty="0"/>
          </a:p>
        </p:txBody>
      </p:sp>
      <p:sp>
        <p:nvSpPr>
          <p:cNvPr id="25" name="Shape 19"/>
          <p:cNvSpPr/>
          <p:nvPr/>
        </p:nvSpPr>
        <p:spPr>
          <a:xfrm>
            <a:off x="640080" y="4041648"/>
            <a:ext cx="420624" cy="420624"/>
          </a:xfrm>
          <a:prstGeom prst="ellipse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414223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70432" y="40233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va hisobot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1170432" y="4242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· MedGemma 1.5 (ochiq tibbiy model) · FastAPI + Next.js</a:t>
            </a:r>
            <a:endParaRPr lang="en-US" sz="860" dirty="0"/>
          </a:p>
        </p:txBody>
      </p:sp>
      <p:sp>
        <p:nvSpPr>
          <p:cNvPr id="29" name="Shape 22"/>
          <p:cNvSpPr/>
          <p:nvPr/>
        </p:nvSpPr>
        <p:spPr>
          <a:xfrm>
            <a:off x="4663440" y="128016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E4F5EC"/>
          </a:solidFill>
          <a:ln w="9525">
            <a:solidFill>
              <a:srgbClr val="E4F5E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3"/>
          <p:cNvSpPr/>
          <p:nvPr/>
        </p:nvSpPr>
        <p:spPr>
          <a:xfrm>
            <a:off x="4846320" y="138988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1499616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39496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 va tibbiy chegaralar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4892040" y="196596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●"/>
            </a:pPr>
            <a:r>
              <a:rPr lang="en-US" sz="98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Tashxis qo'ymaydi, dori dozasini o'zgartirmaydi — protokolni vrach yozadi, AI bajartiradi va o'lchaydi</a:t>
            </a:r>
            <a:endParaRPr lang="en-US" sz="980" dirty="0"/>
          </a:p>
          <a:p>
            <a:pPr marL="152400" indent="-152400">
              <a:spcAft>
                <a:spcPts val="600"/>
              </a:spcAft>
              <a:buSzPct val="100000"/>
              <a:buChar char="●"/>
            </a:pPr>
            <a:r>
              <a:rPr lang="en-US" sz="98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javobda xavf klassifikatori: o'ziga zarar, insult belgilari (FAST), yiqilish → 30 soniyada oila + vrachga signal</a:t>
            </a:r>
            <a:endParaRPr lang="en-US" sz="980" dirty="0"/>
          </a:p>
          <a:p>
            <a:pPr marL="152400" indent="-152400">
              <a:spcAft>
                <a:spcPts val="600"/>
              </a:spcAft>
              <a:buSzPct val="100000"/>
              <a:buChar char="●"/>
            </a:pPr>
            <a:r>
              <a:rPr lang="en-US" sz="98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Yuz tahlili qurilmada; audio 24 soatda o'chadi; rozilik va audit jurnali</a:t>
            </a:r>
            <a:endParaRPr lang="en-US" sz="980" dirty="0"/>
          </a:p>
          <a:p>
            <a:pPr marL="152400" indent="-152400">
              <a:spcAft>
                <a:spcPts val="600"/>
              </a:spcAft>
              <a:buSzPct val="100000"/>
              <a:buChar char="●"/>
            </a:pPr>
            <a:r>
              <a:rPr lang="en-US" sz="98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Ochiq modellar klinika serverida — bemor ma'lumoti O'zbekistondan chiqmaydi</a:t>
            </a:r>
            <a:endParaRPr lang="en-US" sz="980" dirty="0"/>
          </a:p>
          <a:p>
            <a:pPr marL="152400" indent="-152400">
              <a:spcAft>
                <a:spcPts val="600"/>
              </a:spcAft>
              <a:buSzPct val="100000"/>
              <a:buChar char="●"/>
            </a:pPr>
            <a:r>
              <a:rPr lang="en-US" sz="98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Vrach-in-the-loop: har bir bayroqni odam ko'radi va yopadi</a:t>
            </a:r>
            <a:endParaRPr lang="en-US" sz="980" dirty="0"/>
          </a:p>
        </p:txBody>
      </p:sp>
      <p:sp>
        <p:nvSpPr>
          <p:cNvPr id="34" name="Text 26"/>
          <p:cNvSpPr txBox="1"/>
          <p:nvPr/>
        </p:nvSpPr>
        <p:spPr>
          <a:xfrm>
            <a:off x="3840480" y="47914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Modellar: huggingface.co/Kotib/uzbek_stt_v1; aisha-org/navoiy-tts; google/medgemma-1.5-4b-it; MediaPipe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Monetizatsiya modeli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logoped seansi narxiga — bir oylik har kunlik reabilitatsiya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310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818888"/>
            <a:ext cx="146304" cy="146304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658368" y="47914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NeuroAI  ·  #MilliyAIXakaton   #XorazmAI 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512064" cy="512064"/>
          </a:xfrm>
          <a:prstGeom prst="ellipse">
            <a:avLst/>
          </a:prstGeom>
          <a:solidFill>
            <a:srgbClr val="E6F4F5"/>
          </a:solidFill>
          <a:ln w="12700">
            <a:solidFill>
              <a:srgbClr val="E6F4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57276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" y="20299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Kim: klinika / reabilitatsiya markazi (B2B)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99 000 so'm / bemor / oy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Bemor chiqarilayotganda ulanadi. Klinika bemorni 'ushlab turadi', natija ko'rsatkichlarini oladi, logoped 10× ko'p bemorga yetadi.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3246120" y="128016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3429000" y="1444752"/>
            <a:ext cx="512064" cy="512064"/>
          </a:xfrm>
          <a:prstGeom prst="ellipse">
            <a:avLst/>
          </a:prstGeom>
          <a:solidFill>
            <a:srgbClr val="FDEAE8"/>
          </a:solidFill>
          <a:ln w="12700">
            <a:solidFill>
              <a:srgbClr val="FDEA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157276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429000" y="20299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Kim: oila (B2C)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34290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129 000 so'm / oy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429000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logoped seansi narxiga (o'rtacha 129 ming so'm) har kuni 24/7 hamroh, tarjimon va mashq. 2 hafta bepul.</a:t>
            </a:r>
            <a:endParaRPr lang="en-US" sz="880" dirty="0"/>
          </a:p>
        </p:txBody>
      </p:sp>
      <p:sp>
        <p:nvSpPr>
          <p:cNvPr id="19" name="Shape 15"/>
          <p:cNvSpPr/>
          <p:nvPr/>
        </p:nvSpPr>
        <p:spPr>
          <a:xfrm>
            <a:off x="6035040" y="128016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6"/>
          <p:cNvSpPr/>
          <p:nvPr/>
        </p:nvSpPr>
        <p:spPr>
          <a:xfrm>
            <a:off x="6217920" y="1444752"/>
            <a:ext cx="512064" cy="512064"/>
          </a:xfrm>
          <a:prstGeom prst="ellipse">
            <a:avLst/>
          </a:prstGeom>
          <a:solidFill>
            <a:srgbClr val="FEF3DF"/>
          </a:solidFill>
          <a:ln w="12700">
            <a:solidFill>
              <a:srgbClr val="FEF3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572768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217920" y="20299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Kim: davlat dasturi (B2G)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621792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shartnomalar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6217920" y="2651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insult dasturi (239 mlrd so'm, 2026): insult markazlari uchun uy reabilitatsiya moduli — nogironlikni kamaytirish.</a:t>
            </a:r>
            <a:endParaRPr lang="en-US" sz="880" dirty="0"/>
          </a:p>
        </p:txBody>
      </p:sp>
      <p:sp>
        <p:nvSpPr>
          <p:cNvPr id="25" name="Shape 20"/>
          <p:cNvSpPr/>
          <p:nvPr/>
        </p:nvSpPr>
        <p:spPr>
          <a:xfrm>
            <a:off x="457200" y="361188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1"/>
          <p:cNvSpPr txBox="1"/>
          <p:nvPr/>
        </p:nvSpPr>
        <p:spPr>
          <a:xfrm>
            <a:off x="640080" y="3685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(1 faol bemor)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640080" y="3931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$8.5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640080" y="4315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/ oy (aralash)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2651760" y="3931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$1.2 → $0.4</a:t>
            </a:r>
            <a:endParaRPr lang="en-US" sz="2000" dirty="0"/>
          </a:p>
        </p:txBody>
      </p:sp>
      <p:sp>
        <p:nvSpPr>
          <p:cNvPr id="30" name="Text 25"/>
          <p:cNvSpPr txBox="1"/>
          <p:nvPr/>
        </p:nvSpPr>
        <p:spPr>
          <a:xfrm>
            <a:off x="2651760" y="4315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xarajati / oy (API → on-prem)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4663440" y="3931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80%</a:t>
            </a:r>
            <a:endParaRPr lang="en-US" sz="2000" dirty="0"/>
          </a:p>
        </p:txBody>
      </p:sp>
      <p:sp>
        <p:nvSpPr>
          <p:cNvPr id="32" name="Text 27"/>
          <p:cNvSpPr txBox="1"/>
          <p:nvPr/>
        </p:nvSpPr>
        <p:spPr>
          <a:xfrm>
            <a:off x="4663440" y="4315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yalpi marja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675120" y="3931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</a:t>
            </a:r>
            <a:endParaRPr lang="en-US" sz="2000" dirty="0"/>
          </a:p>
        </p:txBody>
      </p:sp>
      <p:sp>
        <p:nvSpPr>
          <p:cNvPr id="34" name="Text 29"/>
          <p:cNvSpPr txBox="1"/>
          <p:nvPr/>
        </p:nvSpPr>
        <p:spPr>
          <a:xfrm>
            <a:off x="6675120" y="4315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faol bemor — break-even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3840480" y="47914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Narxlar: med24.uz (logoped seansi o'rtacha 129 ming so'm); constanttherapyhealth.com; AI xarajati — API tariflari bo'yicha baholash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— maqsadlar va KPI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Realistik: avval klinik pilot va dataset, keyin kengayish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310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818888"/>
            <a:ext cx="146304" cy="146304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658368" y="47914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NeuroAI  ·  #MilliyAIXakaton   #XorazmAI 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7498080" cy="0"/>
          </a:xfrm>
          <a:prstGeom prst="line">
            <a:avLst/>
          </a:prstGeom>
          <a:noFill/>
          <a:ln w="381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694944" y="2660904"/>
            <a:ext cx="256032" cy="256032"/>
          </a:xfrm>
          <a:prstGeom prst="ellipse">
            <a:avLst/>
          </a:prstGeom>
          <a:solidFill>
            <a:srgbClr val="F25C5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502920" y="123444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 txBox="1"/>
          <p:nvPr/>
        </p:nvSpPr>
        <p:spPr>
          <a:xfrm>
            <a:off x="64008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1848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●"/>
            </a:pPr>
            <a:r>
              <a:rPr lang="en-US" sz="86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ishlaydi: suhbat, tarjimon, mashq, vrach paneli</a:t>
            </a:r>
            <a:endParaRPr lang="en-US" sz="860" dirty="0"/>
          </a:p>
          <a:p>
            <a:pPr marL="114300" indent="-114300">
              <a:spcAft>
                <a:spcPts val="300"/>
              </a:spcAft>
              <a:buSzPct val="100000"/>
              <a:buChar char="●"/>
            </a:pPr>
            <a:r>
              <a:rPr lang="en-US" sz="86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pilot bemor — UrDTI klinikasi</a:t>
            </a:r>
            <a:endParaRPr lang="en-US" sz="860" dirty="0"/>
          </a:p>
          <a:p>
            <a:pPr marL="114300" indent="-114300">
              <a:spcAft>
                <a:spcPts val="300"/>
              </a:spcAft>
              <a:buSzPct val="100000"/>
              <a:buChar char="●"/>
            </a:pPr>
            <a:r>
              <a:rPr lang="en-US" sz="86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Ochiq modellar on-prem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822960" y="2651760"/>
            <a:ext cx="0" cy="9144"/>
          </a:xfrm>
          <a:prstGeom prst="line">
            <a:avLst/>
          </a:prstGeom>
          <a:noFill/>
          <a:ln w="19050">
            <a:solidFill>
              <a:srgbClr val="F25C5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2660904" y="2660904"/>
            <a:ext cx="256032" cy="256032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2468880" y="306324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 txBox="1"/>
          <p:nvPr/>
        </p:nvSpPr>
        <p:spPr>
          <a:xfrm>
            <a:off x="2606040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344728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●"/>
            </a:pPr>
            <a:r>
              <a:rPr lang="en-US" sz="86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klinika · 150 bemor</a:t>
            </a:r>
            <a:endParaRPr lang="en-US" sz="860" dirty="0"/>
          </a:p>
          <a:p>
            <a:pPr marL="114300" indent="-114300">
              <a:spcAft>
                <a:spcPts val="300"/>
              </a:spcAft>
              <a:buSzPct val="100000"/>
              <a:buChar char="●"/>
            </a:pPr>
            <a:r>
              <a:rPr lang="en-US" sz="86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pilot (WAB-R oldin/keyin)</a:t>
            </a:r>
            <a:endParaRPr lang="en-US" sz="860" dirty="0"/>
          </a:p>
          <a:p>
            <a:pPr marL="114300" indent="-114300">
              <a:spcAft>
                <a:spcPts val="300"/>
              </a:spcAft>
              <a:buSzPct val="100000"/>
              <a:buChar char="●"/>
            </a:pPr>
            <a:r>
              <a:rPr lang="en-US" sz="86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soat o'zbek afaziya nutqi dataseti</a:t>
            </a:r>
            <a:endParaRPr lang="en-US" sz="860" dirty="0"/>
          </a:p>
          <a:p>
            <a:pPr marL="114300" indent="-114300">
              <a:spcAft>
                <a:spcPts val="300"/>
              </a:spcAft>
              <a:buSzPct val="100000"/>
              <a:buChar char="●"/>
            </a:pPr>
            <a:r>
              <a:rPr lang="en-US" sz="86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Daromad: $5 ming (pilot)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2788920" y="2916936"/>
            <a:ext cx="0" cy="14630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4626864" y="2660904"/>
            <a:ext cx="256032" cy="256032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434840" y="123444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 txBox="1"/>
          <p:nvPr/>
        </p:nvSpPr>
        <p:spPr>
          <a:xfrm>
            <a:off x="457200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yil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161848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●"/>
            </a:pPr>
            <a:r>
              <a:rPr lang="en-US" sz="86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klinika · 1 000 faol bemor</a:t>
            </a:r>
            <a:endParaRPr lang="en-US" sz="860" dirty="0"/>
          </a:p>
          <a:p>
            <a:pPr marL="114300" indent="-114300">
              <a:spcAft>
                <a:spcPts val="300"/>
              </a:spcAft>
              <a:buSzPct val="100000"/>
              <a:buChar char="●"/>
            </a:pPr>
            <a:r>
              <a:rPr lang="en-US" sz="86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≈ $100 ming</a:t>
            </a:r>
            <a:endParaRPr lang="en-US" sz="860" dirty="0"/>
          </a:p>
          <a:p>
            <a:pPr marL="114300" indent="-114300">
              <a:spcAft>
                <a:spcPts val="300"/>
              </a:spcAft>
              <a:buSzPct val="100000"/>
              <a:buChar char="●"/>
            </a:pPr>
            <a:r>
              <a:rPr lang="en-US" sz="86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fine-tune, mobil ilova</a:t>
            </a:r>
            <a:endParaRPr lang="en-US" sz="860" dirty="0"/>
          </a:p>
          <a:p>
            <a:pPr marL="114300" indent="-114300">
              <a:spcAft>
                <a:spcPts val="300"/>
              </a:spcAft>
              <a:buSzPct val="100000"/>
              <a:buChar char="●"/>
            </a:pPr>
            <a:r>
              <a:rPr lang="en-US" sz="86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Rioya ≥ 80%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4754880" y="2651760"/>
            <a:ext cx="0" cy="9144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6592824" y="2660904"/>
            <a:ext cx="256032" cy="256032"/>
          </a:xfrm>
          <a:prstGeom prst="ellipse">
            <a:avLst/>
          </a:prstGeom>
          <a:solidFill>
            <a:srgbClr val="2E9E6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6400800" y="306324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 txBox="1"/>
          <p:nvPr/>
        </p:nvSpPr>
        <p:spPr>
          <a:xfrm>
            <a:off x="6537960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yil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344728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●"/>
            </a:pPr>
            <a:r>
              <a:rPr lang="en-US" sz="86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Osiyo: KZ, KG</a:t>
            </a:r>
            <a:endParaRPr lang="en-US" sz="860" dirty="0"/>
          </a:p>
          <a:p>
            <a:pPr marL="114300" indent="-114300">
              <a:spcAft>
                <a:spcPts val="300"/>
              </a:spcAft>
              <a:buSzPct val="100000"/>
              <a:buChar char="●"/>
            </a:pPr>
            <a:r>
              <a:rPr lang="en-US" sz="86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faol bemor · ARR ≈ $500 ming</a:t>
            </a:r>
            <a:endParaRPr lang="en-US" sz="860" dirty="0"/>
          </a:p>
          <a:p>
            <a:pPr marL="114300" indent="-114300">
              <a:spcAft>
                <a:spcPts val="300"/>
              </a:spcAft>
              <a:buSzPct val="100000"/>
              <a:buChar char="●"/>
            </a:pPr>
            <a:r>
              <a:rPr lang="en-US" sz="86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insult dasturi integratsiyasi</a:t>
            </a:r>
            <a:endParaRPr lang="en-US" sz="860" dirty="0"/>
          </a:p>
          <a:p>
            <a:pPr marL="114300" indent="-114300">
              <a:spcAft>
                <a:spcPts val="300"/>
              </a:spcAft>
              <a:buSzPct val="100000"/>
              <a:buChar char="●"/>
            </a:pPr>
            <a:r>
              <a:rPr lang="en-US" sz="86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tili, 30+ protokol shabloni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720840" y="2916936"/>
            <a:ext cx="0" cy="146304"/>
          </a:xfrm>
          <a:prstGeom prst="line">
            <a:avLst/>
          </a:prstGeom>
          <a:noFill/>
          <a:ln w="1905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 rot="5400000">
            <a:off x="8339328" y="2679192"/>
            <a:ext cx="219456" cy="219456"/>
          </a:xfrm>
          <a:prstGeom prst="triangle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 txBox="1"/>
          <p:nvPr/>
        </p:nvSpPr>
        <p:spPr>
          <a:xfrm>
            <a:off x="3840480" y="47914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nutq aniqligi va mustaqil javoblar ulushi ↑, rioya ≥ 80%, oila NPS, qizil bayroqlarga javob vaqti &lt; 5 daqiqa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Tibbiyot + AI muhandisligi — bitta shaharda, bitta muammo atrofida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310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818888"/>
            <a:ext cx="146304" cy="146304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658368" y="47914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NeuroAI  ·  #MilliyAIXakaton   #XorazmAI  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947672" cy="292608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1060704" y="1463040"/>
            <a:ext cx="731520" cy="731520"/>
          </a:xfrm>
          <a:prstGeom prst="ellipse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16459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4360" y="230428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Qadamboyev Jamshid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578608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Asoschi · CEO · AI/full-stack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999232"/>
            <a:ext cx="1673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AviRadiology va AviShifo asoschisi; milliy AI hakaton g'olibi; Urganch davlat tibbiyot instituti talabasi; Startup Club rahbari</a:t>
            </a:r>
            <a:endParaRPr lang="en-US" sz="86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85876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yil dasturlash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542032" y="1280160"/>
            <a:ext cx="1947672" cy="292608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3145536" y="146304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164592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679192" y="230428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Boboqulov</a:t>
            </a: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San”at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2679192" y="2578608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· Backend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2679192" y="2999232"/>
            <a:ext cx="1673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[Tajriba va ko'nikmalar — 1–2 qator]</a:t>
            </a:r>
            <a:endParaRPr lang="en-US" sz="860" dirty="0"/>
          </a:p>
        </p:txBody>
      </p:sp>
      <p:sp>
        <p:nvSpPr>
          <p:cNvPr id="20" name="Text 16"/>
          <p:cNvSpPr txBox="1"/>
          <p:nvPr/>
        </p:nvSpPr>
        <p:spPr>
          <a:xfrm>
            <a:off x="2679192" y="385876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en-US" sz="950" b="1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</a:t>
            </a: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626864" y="1280160"/>
            <a:ext cx="1947672" cy="292608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Shape 18"/>
          <p:cNvSpPr/>
          <p:nvPr/>
        </p:nvSpPr>
        <p:spPr>
          <a:xfrm>
            <a:off x="5230368" y="1463040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164592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771058" y="230428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Jumaniyazov</a:t>
            </a: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Amirbek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4764024" y="2578608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UI/UX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4764024" y="2999232"/>
            <a:ext cx="1673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[Tajriba va ko'nikmalar — 1–2 qator]</a:t>
            </a:r>
            <a:endParaRPr lang="en-US" sz="860" dirty="0"/>
          </a:p>
        </p:txBody>
      </p:sp>
      <p:sp>
        <p:nvSpPr>
          <p:cNvPr id="27" name="Text 22"/>
          <p:cNvSpPr txBox="1"/>
          <p:nvPr/>
        </p:nvSpPr>
        <p:spPr>
          <a:xfrm>
            <a:off x="4764024" y="385876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 </a:t>
            </a:r>
            <a:r>
              <a:rPr lang="en-US" sz="950" b="1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</a:t>
            </a: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711696" y="1280160"/>
            <a:ext cx="1947672" cy="292608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blurRad="76200" dist="1905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4"/>
          <p:cNvSpPr/>
          <p:nvPr/>
        </p:nvSpPr>
        <p:spPr>
          <a:xfrm>
            <a:off x="7315200" y="1463040"/>
            <a:ext cx="731520" cy="73152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645920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848856" y="230428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Qurbonov </a:t>
            </a:r>
            <a:r>
              <a:rPr lang="en-US" sz="1250" b="1" dirty="0" err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bdulaziz</a:t>
            </a:r>
            <a:endParaRPr lang="en-US" sz="1250" dirty="0"/>
          </a:p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6848856" y="2578608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Tibbiy maslahatchi · nevrolog/logoped</a:t>
            </a:r>
            <a:endParaRPr lang="en-US" sz="950" dirty="0"/>
          </a:p>
        </p:txBody>
      </p:sp>
      <p:sp>
        <p:nvSpPr>
          <p:cNvPr id="33" name="Text 27"/>
          <p:cNvSpPr txBox="1"/>
          <p:nvPr/>
        </p:nvSpPr>
        <p:spPr>
          <a:xfrm>
            <a:off x="6848856" y="2999232"/>
            <a:ext cx="1673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[Klinik tajriba — 1–2 qator]</a:t>
            </a:r>
            <a:endParaRPr lang="en-US" sz="860" dirty="0"/>
          </a:p>
        </p:txBody>
      </p:sp>
      <p:sp>
        <p:nvSpPr>
          <p:cNvPr id="34" name="Text 28"/>
          <p:cNvSpPr txBox="1"/>
          <p:nvPr/>
        </p:nvSpPr>
        <p:spPr>
          <a:xfrm>
            <a:off x="6848856" y="385876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</a:t>
            </a:r>
            <a:r>
              <a:rPr lang="en-US" sz="950" b="1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</a:t>
            </a:r>
            <a:r>
              <a:rPr lang="en-US" sz="9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57200" y="4315968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5F8FB"/>
          </a:solidFill>
          <a:ln w="9525">
            <a:solidFill>
              <a:srgbClr val="F5F8F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398264"/>
            <a:ext cx="219456" cy="219456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32688" y="4389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qadamboyevj3@gmail.com</a:t>
            </a:r>
            <a:endParaRPr lang="en-US" sz="10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3360" y="4398264"/>
            <a:ext cx="219456" cy="219456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4315968" y="43891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github.com/codewithjamshid/NeuroAi   ·   Urganch, Xorazm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1911</Words>
  <Application>Microsoft Office PowerPoint</Application>
  <PresentationFormat>Экран (16:9)</PresentationFormat>
  <Paragraphs>236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NeuroAI — Pitch Day</dc:title>
  <dc:subject>PptxGenJS Presentation</dc:subject>
  <dc:creator>Azizbek Atoyev</dc:creator>
  <cp:lastModifiedBy>Qadamboyev Jamshid</cp:lastModifiedBy>
  <cp:revision>5</cp:revision>
  <dcterms:created xsi:type="dcterms:W3CDTF">2026-09-19T06:04:28Z</dcterms:created>
  <dcterms:modified xsi:type="dcterms:W3CDTF">2026-09-19T11:54:46Z</dcterms:modified>
</cp:coreProperties>
</file>